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 b="def" i="def"/>
      <a:tcStyle>
        <a:tcBdr/>
        <a:fill>
          <a:solidFill>
            <a:srgbClr val="E8ED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 b="def" i="def"/>
      <a:tcStyle>
        <a:tcBdr/>
        <a:fill>
          <a:solidFill>
            <a:srgbClr val="EBEE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 b="def" i="def"/>
      <a:tcStyle>
        <a:tcBdr/>
        <a:fill>
          <a:solidFill>
            <a:srgbClr val="FCFF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7" name="Shape 10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311708" y="744574"/>
            <a:ext cx="8520601" cy="2052601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311699" y="2834125"/>
            <a:ext cx="8520602" cy="7926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pPr/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half" idx="1"/>
          </p:nvPr>
        </p:nvSpPr>
        <p:spPr>
          <a:xfrm>
            <a:off x="311699" y="1152475"/>
            <a:ext cx="3999902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Google Shape;23;p5"/>
          <p:cNvSpPr txBox="1"/>
          <p:nvPr>
            <p:ph type="body" sz="half" idx="21"/>
          </p:nvPr>
        </p:nvSpPr>
        <p:spPr>
          <a:xfrm>
            <a:off x="4832399" y="1152475"/>
            <a:ext cx="3999902" cy="3416400"/>
          </a:xfrm>
          <a:prstGeom prst="rect">
            <a:avLst/>
          </a:prstGeom>
        </p:spPr>
        <p:txBody>
          <a:bodyPr/>
          <a:lstStyle/>
          <a:p>
            <a:pPr indent="-317500">
              <a:buSzPts val="1400"/>
              <a:defRPr sz="1400"/>
            </a:pP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/>
          </p:nvPr>
        </p:nvSpPr>
        <p:spPr>
          <a:xfrm>
            <a:off x="311699" y="555600"/>
            <a:ext cx="2808001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pPr/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/>
          </p:nvPr>
        </p:nvSpPr>
        <p:spPr>
          <a:xfrm>
            <a:off x="311699" y="1389599"/>
            <a:ext cx="2808001" cy="3179401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/>
          </p:nvPr>
        </p:nvSpPr>
        <p:spPr>
          <a:xfrm>
            <a:off x="490250" y="450149"/>
            <a:ext cx="6367801" cy="4090801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4572000" y="-125"/>
            <a:ext cx="4572000" cy="5143501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3" name="Title Text"/>
          <p:cNvSpPr txBox="1"/>
          <p:nvPr>
            <p:ph type="title"/>
          </p:nvPr>
        </p:nvSpPr>
        <p:spPr>
          <a:xfrm>
            <a:off x="265500" y="1233175"/>
            <a:ext cx="4045200" cy="1482301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quarter" idx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Google Shape;39;p9"/>
          <p:cNvSpPr txBox="1"/>
          <p:nvPr>
            <p:ph type="body" sz="half" idx="21"/>
          </p:nvPr>
        </p:nvSpPr>
        <p:spPr>
          <a:xfrm>
            <a:off x="4939500" y="724074"/>
            <a:ext cx="3837000" cy="3695102"/>
          </a:xfrm>
          <a:prstGeom prst="rect">
            <a:avLst/>
          </a:prstGeom>
        </p:spPr>
        <p:txBody>
          <a:bodyPr anchor="ctr"/>
          <a:lstStyle/>
          <a:p>
            <a:pPr/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/>
          <p:nvPr>
            <p:ph type="body" sz="quarter" idx="1"/>
          </p:nvPr>
        </p:nvSpPr>
        <p:spPr>
          <a:xfrm>
            <a:off x="311699" y="4230575"/>
            <a:ext cx="5998802" cy="605101"/>
          </a:xfrm>
          <a:prstGeom prst="rect">
            <a:avLst/>
          </a:prstGeom>
        </p:spPr>
        <p:txBody>
          <a:bodyPr anchor="ctr"/>
          <a:lstStyle>
            <a:lvl1pPr marL="228600" indent="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/>
          <p:nvPr>
            <p:ph type="title" hasCustomPrompt="1"/>
          </p:nvPr>
        </p:nvSpPr>
        <p:spPr>
          <a:xfrm>
            <a:off x="311699" y="1106125"/>
            <a:ext cx="8520602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pPr/>
            <a:r>
              <a:t>xx%</a:t>
            </a:r>
          </a:p>
        </p:txBody>
      </p:sp>
      <p:sp>
        <p:nvSpPr>
          <p:cNvPr id="92" name="Body Level One…"/>
          <p:cNvSpPr txBox="1"/>
          <p:nvPr>
            <p:ph type="body" sz="half" idx="1"/>
          </p:nvPr>
        </p:nvSpPr>
        <p:spPr>
          <a:xfrm>
            <a:off x="311699" y="3152225"/>
            <a:ext cx="8520602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normAutofit fontScale="100000" lnSpcReduction="0"/>
          </a:bodyPr>
          <a:lstStyle>
            <a:lvl1pPr algn="r">
              <a:defRPr sz="10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1pPr>
      <a:lvl2pPr marL="1005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2pPr>
      <a:lvl3pPr marL="1462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3pPr>
      <a:lvl4pPr marL="1919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4pPr>
      <a:lvl5pPr marL="23767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5pPr>
      <a:lvl6pPr marL="28339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6pPr>
      <a:lvl7pPr marL="3291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7pPr>
      <a:lvl8pPr marL="3748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8pPr>
      <a:lvl9pPr marL="4205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54;p13"/>
          <p:cNvSpPr txBox="1"/>
          <p:nvPr>
            <p:ph type="ctrTitle"/>
          </p:nvPr>
        </p:nvSpPr>
        <p:spPr>
          <a:xfrm>
            <a:off x="311707" y="744575"/>
            <a:ext cx="8520602" cy="2052599"/>
          </a:xfrm>
          <a:prstGeom prst="rect">
            <a:avLst/>
          </a:prstGeom>
        </p:spPr>
        <p:txBody>
          <a:bodyPr/>
          <a:lstStyle/>
          <a:p>
            <a:pPr/>
            <a:r>
              <a:t>A Hybrid ML Approach for Health Insurance Prediction</a:t>
            </a:r>
          </a:p>
        </p:txBody>
      </p:sp>
      <p:sp>
        <p:nvSpPr>
          <p:cNvPr id="110" name="Google Shape;55;p13"/>
          <p:cNvSpPr txBox="1"/>
          <p:nvPr>
            <p:ph type="subTitle" sz="half" idx="1"/>
          </p:nvPr>
        </p:nvSpPr>
        <p:spPr>
          <a:xfrm>
            <a:off x="311699" y="2834125"/>
            <a:ext cx="8520602" cy="1995409"/>
          </a:xfrm>
          <a:prstGeom prst="rect">
            <a:avLst/>
          </a:prstGeom>
        </p:spPr>
        <p:txBody>
          <a:bodyPr/>
          <a:lstStyle/>
          <a:p>
            <a:pPr marL="0" indent="0" defTabSz="310895">
              <a:defRPr sz="997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RA2512049015048</a:t>
            </a:r>
          </a:p>
          <a:p>
            <a:pPr marL="0" indent="0" algn="l" defTabSz="310895">
              <a:defRPr sz="997">
                <a:solidFill>
                  <a:srgbClr val="1F1F1F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mb8485@srmist.edu.in</a:t>
            </a:r>
          </a:p>
          <a:p>
            <a:pPr marL="0" indent="0" algn="l" defTabSz="310895">
              <a:defRPr sz="906">
                <a:solidFill>
                  <a:srgbClr val="000000"/>
                </a:solidFill>
              </a:defRPr>
            </a:pPr>
            <a:r>
              <a:t>Manicka Raja B</a:t>
            </a:r>
          </a:p>
          <a:p>
            <a:pPr marL="0" indent="0" defTabSz="310895">
              <a:defRPr sz="997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RA2512049015028</a:t>
            </a:r>
          </a:p>
          <a:p>
            <a:pPr marL="0" indent="0" algn="l" defTabSz="310895">
              <a:defRPr sz="906">
                <a:solidFill>
                  <a:srgbClr val="000000"/>
                </a:solidFill>
              </a:defRPr>
            </a:pPr>
            <a:r>
              <a:t>hm7662@srmist.edu.in</a:t>
            </a:r>
          </a:p>
          <a:p>
            <a:pPr marL="0" indent="0" algn="l" defTabSz="310895">
              <a:defRPr sz="906">
                <a:solidFill>
                  <a:srgbClr val="000000"/>
                </a:solidFill>
              </a:defRPr>
            </a:pPr>
            <a:r>
              <a:t>Haribabu Manickam</a:t>
            </a:r>
          </a:p>
          <a:p>
            <a:pPr marL="0" indent="0" defTabSz="310895">
              <a:defRPr sz="997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RA2512049015031</a:t>
            </a:r>
          </a:p>
          <a:p>
            <a:pPr marL="0" indent="0" algn="l" defTabSz="310895">
              <a:defRPr sz="906">
                <a:solidFill>
                  <a:srgbClr val="000000"/>
                </a:solidFill>
              </a:defRPr>
            </a:pPr>
            <a:r>
              <a:t>ka2115@srmist.edi.in</a:t>
            </a:r>
          </a:p>
          <a:p>
            <a:pPr marL="0" indent="0" algn="l" defTabSz="310895">
              <a:defRPr sz="906">
                <a:solidFill>
                  <a:srgbClr val="000000"/>
                </a:solidFill>
              </a:defRPr>
            </a:pPr>
            <a:r>
              <a:t>A. Karthikeyan</a:t>
            </a:r>
          </a:p>
          <a:p>
            <a:pPr marL="0" indent="0" defTabSz="310895">
              <a:defRPr sz="997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RA2512049015050</a:t>
            </a:r>
          </a:p>
          <a:p>
            <a:pPr marL="0" indent="0" algn="l" defTabSz="310895">
              <a:defRPr sz="906">
                <a:solidFill>
                  <a:srgbClr val="000000"/>
                </a:solidFill>
              </a:defRPr>
            </a:pPr>
            <a:r>
              <a:t>ks9008@srmist.edu.in</a:t>
            </a:r>
          </a:p>
          <a:p>
            <a:pPr marL="0" indent="0" algn="l" defTabSz="310895">
              <a:defRPr sz="906">
                <a:solidFill>
                  <a:srgbClr val="000000"/>
                </a:solidFill>
              </a:defRPr>
            </a:pPr>
            <a:r>
              <a:t>Karthick 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60;p14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/>
          <a:lstStyle>
            <a:lvl1pPr>
              <a:defRPr b="1" sz="2500"/>
            </a:lvl1pPr>
          </a:lstStyle>
          <a:p>
            <a:pPr/>
            <a:r>
              <a:t>Project Structure </a:t>
            </a:r>
          </a:p>
        </p:txBody>
      </p:sp>
      <p:sp>
        <p:nvSpPr>
          <p:cNvPr id="113" name="Google Shape;61;p14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</p:spPr>
        <p:txBody>
          <a:bodyPr/>
          <a:lstStyle/>
          <a:p>
            <a:pPr indent="-387350">
              <a:buClr>
                <a:srgbClr val="000000"/>
              </a:buClr>
              <a:buSzPts val="2500"/>
              <a:defRPr b="1" sz="2500">
                <a:solidFill>
                  <a:srgbClr val="000000"/>
                </a:solidFill>
              </a:defRPr>
            </a:pPr>
            <a:r>
              <a:t>1,000 synthetic records</a:t>
            </a:r>
            <a:r>
              <a:rPr b="0"/>
              <a:t> with 10+ features (age, BMI, smoking status, pre-existing conditions, etc.)</a:t>
            </a:r>
          </a:p>
          <a:p>
            <a:pPr indent="-387350">
              <a:buClr>
                <a:srgbClr val="000000"/>
              </a:buClr>
              <a:buSzPts val="2500"/>
              <a:defRPr b="1" sz="2500">
                <a:solidFill>
                  <a:srgbClr val="000000"/>
                </a:solidFill>
              </a:defRPr>
            </a:pPr>
            <a:r>
              <a:t>Two prediction tasks</a:t>
            </a:r>
            <a:r>
              <a:rPr b="0"/>
              <a:t>: Eligibility classification + Cost regression</a:t>
            </a:r>
          </a:p>
          <a:p>
            <a:pPr indent="-387350">
              <a:buClr>
                <a:srgbClr val="000000"/>
              </a:buClr>
              <a:buSzPts val="2500"/>
              <a:defRPr b="1" sz="2500">
                <a:solidFill>
                  <a:srgbClr val="000000"/>
                </a:solidFill>
              </a:defRPr>
            </a:pPr>
            <a:r>
              <a:t>Hybrid approach</a:t>
            </a:r>
            <a:r>
              <a:rPr b="0"/>
              <a:t>: Eligibility predictions feed into cost model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66;p15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/>
          <a:lstStyle>
            <a:lvl1pPr>
              <a:defRPr b="1" sz="2500"/>
            </a:lvl1pPr>
          </a:lstStyle>
          <a:p>
            <a:pPr/>
            <a:r>
              <a:t>Model Performance</a:t>
            </a:r>
          </a:p>
        </p:txBody>
      </p:sp>
      <p:sp>
        <p:nvSpPr>
          <p:cNvPr id="116" name="Google Shape;67;p15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</p:spPr>
        <p:txBody>
          <a:bodyPr/>
          <a:lstStyle/>
          <a:p>
            <a:pPr indent="-387350">
              <a:buClr>
                <a:srgbClr val="000000"/>
              </a:buClr>
              <a:buSzPts val="2500"/>
              <a:defRPr b="1" sz="2500">
                <a:solidFill>
                  <a:srgbClr val="000000"/>
                </a:solidFill>
              </a:defRPr>
            </a:pPr>
            <a:r>
              <a:t>Eligibility</a:t>
            </a:r>
            <a:r>
              <a:rPr b="0"/>
              <a:t>: Random Forest achieves ~90% accuracy</a:t>
            </a:r>
          </a:p>
          <a:p>
            <a:pPr indent="-387350">
              <a:buClr>
                <a:srgbClr val="000000"/>
              </a:buClr>
              <a:buSzPts val="2500"/>
              <a:defRPr b="1" sz="2500">
                <a:solidFill>
                  <a:srgbClr val="000000"/>
                </a:solidFill>
              </a:defRPr>
            </a:pPr>
            <a:r>
              <a:t>Cost</a:t>
            </a:r>
            <a:r>
              <a:rPr b="0"/>
              <a:t>: LightGBM/Stacking achieves R² ~0.88-0.90</a:t>
            </a:r>
          </a:p>
          <a:p>
            <a:pPr indent="-387350">
              <a:buClr>
                <a:srgbClr val="000000"/>
              </a:buClr>
              <a:buSzPts val="2500"/>
              <a:defRPr b="1" sz="2500">
                <a:solidFill>
                  <a:srgbClr val="000000"/>
                </a:solidFill>
              </a:defRPr>
            </a:pPr>
            <a:r>
              <a:t>Key innovation</a:t>
            </a:r>
            <a:r>
              <a:rPr b="0"/>
              <a:t>: Using eligibility probability as a feature for cost prediction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72;p16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/>
          <a:lstStyle>
            <a:lvl1pPr>
              <a:defRPr b="1" sz="2500"/>
            </a:lvl1pPr>
          </a:lstStyle>
          <a:p>
            <a:pPr/>
            <a:r>
              <a:t>Hybrid Techniques Implemented</a:t>
            </a:r>
          </a:p>
        </p:txBody>
      </p:sp>
      <p:sp>
        <p:nvSpPr>
          <p:cNvPr id="119" name="Google Shape;73;p16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</p:spPr>
        <p:txBody>
          <a:bodyPr/>
          <a:lstStyle/>
          <a:p>
            <a:pPr indent="-381000">
              <a:buClr>
                <a:srgbClr val="000000"/>
              </a:buClr>
              <a:buSzPts val="2400"/>
              <a:defRPr b="1" sz="2400">
                <a:solidFill>
                  <a:srgbClr val="000000"/>
                </a:solidFill>
              </a:defRPr>
            </a:pPr>
            <a:r>
              <a:t>Stacking Ensembles</a:t>
            </a:r>
            <a:r>
              <a:rPr b="0"/>
              <a:t>: Multiple base models + meta-learner</a:t>
            </a:r>
          </a:p>
          <a:p>
            <a:pPr indent="-381000">
              <a:buClr>
                <a:srgbClr val="000000"/>
              </a:buClr>
              <a:buSzPts val="2400"/>
              <a:defRPr b="1" sz="2400">
                <a:solidFill>
                  <a:srgbClr val="000000"/>
                </a:solidFill>
              </a:defRPr>
            </a:pPr>
            <a:r>
              <a:t>Voting Ensembles</a:t>
            </a:r>
            <a:r>
              <a:rPr b="0"/>
              <a:t>: Weighted combination of predictions</a:t>
            </a:r>
          </a:p>
          <a:p>
            <a:pPr indent="-381000">
              <a:buClr>
                <a:srgbClr val="000000"/>
              </a:buClr>
              <a:buSzPts val="2400"/>
              <a:defRPr b="1" sz="2400">
                <a:solidFill>
                  <a:srgbClr val="000000"/>
                </a:solidFill>
              </a:defRPr>
            </a:pPr>
            <a:r>
              <a:t>Sequential Pipeline</a:t>
            </a:r>
            <a:r>
              <a:rPr b="0"/>
              <a:t>: Eligibility → Cost (two-stage modeling)</a:t>
            </a:r>
          </a:p>
          <a:p>
            <a:pPr indent="-381000">
              <a:buClr>
                <a:srgbClr val="000000"/>
              </a:buClr>
              <a:buSzPts val="2400"/>
              <a:defRPr b="1" sz="2400">
                <a:solidFill>
                  <a:srgbClr val="000000"/>
                </a:solidFill>
              </a:defRPr>
            </a:pPr>
            <a:r>
              <a:t>Feature Augmentation</a:t>
            </a:r>
            <a:r>
              <a:rPr b="0"/>
              <a:t>: Eligibility probabilities as regression features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78;p17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/>
          <a:lstStyle>
            <a:lvl1pPr>
              <a:defRPr b="1" sz="2500"/>
            </a:lvl1pPr>
          </a:lstStyle>
          <a:p>
            <a:pPr/>
            <a:r>
              <a:t>Ready to Deploy Backend </a:t>
            </a:r>
          </a:p>
        </p:txBody>
      </p:sp>
      <p:sp>
        <p:nvSpPr>
          <p:cNvPr id="122" name="Google Shape;79;p17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1400"/>
              </a:spcBef>
              <a:buSzTx/>
              <a:buNone/>
              <a:defRPr b="1" sz="2400">
                <a:solidFill>
                  <a:srgbClr val="000000"/>
                </a:solidFill>
              </a:defRPr>
            </a:pPr>
            <a:r>
              <a:t>Flask Backend API (app.py)</a:t>
            </a:r>
          </a:p>
          <a:p>
            <a:pPr indent="-381000">
              <a:spcBef>
                <a:spcPts val="1200"/>
              </a:spcBef>
              <a:buClr>
                <a:srgbClr val="000000"/>
              </a:buClr>
              <a:buSzPts val="2400"/>
              <a:defRPr sz="2400">
                <a:solidFill>
                  <a:srgbClr val="000000"/>
                </a:solidFill>
              </a:defRPr>
            </a:pPr>
            <a:r>
              <a:t>REST API for production deployment</a:t>
            </a:r>
          </a:p>
          <a:p>
            <a:pPr indent="-381000">
              <a:buClr>
                <a:srgbClr val="000000"/>
              </a:buClr>
              <a:buSzPts val="2400"/>
              <a:defRPr sz="2400">
                <a:solidFill>
                  <a:srgbClr val="000000"/>
                </a:solidFill>
              </a:defRPr>
            </a:pPr>
            <a:r>
              <a:t>Rule-based fallback when ML models aren't available</a:t>
            </a:r>
          </a:p>
          <a:p>
            <a:pPr indent="-381000">
              <a:buClr>
                <a:srgbClr val="000000"/>
              </a:buClr>
              <a:buSzPts val="2400"/>
              <a:defRPr sz="2400">
                <a:solidFill>
                  <a:srgbClr val="000000"/>
                </a:solidFill>
              </a:defRPr>
            </a:pPr>
            <a:r>
              <a:t>Batch prediction support</a:t>
            </a:r>
          </a:p>
          <a:p>
            <a:pPr indent="-381000">
              <a:buClr>
                <a:srgbClr val="000000"/>
              </a:buClr>
              <a:buSzPts val="2400"/>
              <a:defRPr sz="2400">
                <a:solidFill>
                  <a:srgbClr val="000000"/>
                </a:solidFill>
              </a:defRPr>
            </a:pPr>
            <a:r>
              <a:t>Health check endpoints</a:t>
            </a:r>
          </a:p>
          <a:p>
            <a:pPr indent="-381000">
              <a:buClr>
                <a:srgbClr val="000000"/>
              </a:buClr>
              <a:buSzPts val="2400"/>
              <a:defRPr sz="2400">
                <a:solidFill>
                  <a:srgbClr val="000000"/>
                </a:solidFill>
              </a:defRPr>
            </a:pPr>
            <a:r>
              <a:t>Ready for hospital integration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84;p18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/>
          <a:lstStyle>
            <a:lvl1pPr>
              <a:defRPr b="1" sz="2500"/>
            </a:lvl1pPr>
          </a:lstStyle>
          <a:p>
            <a:pPr/>
            <a:r>
              <a:t>Ready to Use Web Application </a:t>
            </a:r>
          </a:p>
        </p:txBody>
      </p:sp>
      <p:sp>
        <p:nvSpPr>
          <p:cNvPr id="125" name="Google Shape;85;p18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</p:spPr>
        <p:txBody>
          <a:bodyPr/>
          <a:lstStyle/>
          <a:p>
            <a:pPr indent="-387350">
              <a:buSzPts val="2500"/>
              <a:defRPr sz="2500"/>
            </a:pPr>
            <a:r>
              <a:t>Real-time predictions with visual results</a:t>
            </a:r>
          </a:p>
          <a:p>
            <a:pPr indent="-387350">
              <a:buSzPts val="2500"/>
              <a:defRPr sz="2500"/>
            </a:pPr>
            <a:r>
              <a:t>Professional hospital-grade interface</a:t>
            </a:r>
          </a:p>
          <a:p>
            <a:pPr indent="-387350">
              <a:buSzPts val="2500"/>
              <a:defRPr sz="2500"/>
            </a:pPr>
            <a:r>
              <a:t>No installation needed for basic use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